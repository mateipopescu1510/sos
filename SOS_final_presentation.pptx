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38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9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4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7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4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6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7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3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57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82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6817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69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5049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20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4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540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9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Identifying Erroneous Data in Image Datasets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Comparison of </a:t>
            </a:r>
            <a:r>
              <a:t>Particle Swarm Optimization </a:t>
            </a:r>
            <a:r>
              <a:rPr lang="en-US"/>
              <a:t>and</a:t>
            </a:r>
            <a:r>
              <a:t> Genetic Algorithms</a:t>
            </a:r>
          </a:p>
          <a:p>
            <a:r>
              <a:t>Popescu Matei-Calin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</a:t>
            </a:r>
            <a:r>
              <a:rPr lang="en-US"/>
              <a:t>I</a:t>
            </a:r>
            <a:r>
              <a:t>mage </a:t>
            </a:r>
            <a:r>
              <a:rPr lang="en-US"/>
              <a:t>D</a:t>
            </a:r>
            <a:r>
              <a:t>atasets </a:t>
            </a:r>
            <a:r>
              <a:rPr lang="en-US"/>
              <a:t>can be flawed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Mislabels, occlusions, out-of-distribution samples</a:t>
            </a:r>
            <a:r>
              <a:rPr lang="en-US"/>
              <a:t> can slip in</a:t>
            </a:r>
            <a:endParaRPr/>
          </a:p>
          <a:p>
            <a:r>
              <a:t>They quietly degrade anything trained on them</a:t>
            </a:r>
          </a:p>
          <a:p>
            <a:r>
              <a:rPr lang="en-US"/>
              <a:t>Manual sanitizing is impractical on a large scale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</a:t>
            </a:r>
            <a:r>
              <a:rPr lang="en-US"/>
              <a:t>D</a:t>
            </a:r>
            <a:r>
              <a:t>etection as a </a:t>
            </a:r>
            <a:r>
              <a:rPr lang="en-US"/>
              <a:t>C</a:t>
            </a:r>
            <a:r>
              <a:t>lustering </a:t>
            </a:r>
            <a:r>
              <a:rPr lang="en-US"/>
              <a:t>P</a:t>
            </a:r>
            <a:r>
              <a:t>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10487608" cy="4937760"/>
          </a:xfrm>
        </p:spPr>
        <p:txBody>
          <a:bodyPr wrap="square"/>
          <a:lstStyle/>
          <a:p>
            <a:r>
              <a:t>Place K centroids in feature space</a:t>
            </a:r>
          </a:p>
          <a:p>
            <a:r>
              <a:rPr lang="en-US"/>
              <a:t>Anomaly s</a:t>
            </a:r>
            <a:r>
              <a:t>core each point by distance to nearest centroid</a:t>
            </a:r>
          </a:p>
          <a:p>
            <a:r>
              <a:t>Far from </a:t>
            </a:r>
            <a:r>
              <a:rPr lang="en-US"/>
              <a:t>a</a:t>
            </a:r>
            <a:r>
              <a:t> centroid </a:t>
            </a:r>
            <a:r>
              <a:rPr lang="en-US"/>
              <a:t>-&gt;</a:t>
            </a:r>
            <a:r>
              <a:t> </a:t>
            </a:r>
            <a:r>
              <a:rPr lang="en-US"/>
              <a:t>possibly erroneous</a:t>
            </a:r>
            <a:endParaRPr/>
          </a:p>
          <a:p>
            <a:r>
              <a:t>PSO, GA, k-means</a:t>
            </a:r>
            <a:r>
              <a:rPr lang="en-US"/>
              <a:t> optimize the centroids and get compared</a:t>
            </a:r>
            <a:endParaRPr/>
          </a:p>
        </p:txBody>
      </p:sp>
      <p:pic>
        <p:nvPicPr>
          <p:cNvPr id="4" name="Picture 3" descr="scatter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61" y="3297335"/>
            <a:ext cx="9781592" cy="32605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Fashion-MNIST + </a:t>
            </a:r>
            <a:r>
              <a:rPr lang="en-US"/>
              <a:t>I</a:t>
            </a:r>
            <a:r>
              <a:t>njected </a:t>
            </a:r>
            <a:r>
              <a:rPr lang="en-US"/>
              <a:t>E</a:t>
            </a:r>
            <a:r>
              <a:t>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10 classes</a:t>
            </a:r>
            <a:r>
              <a:rPr lang="en-US"/>
              <a:t>, subsampled to 10000 (for performance reasons)</a:t>
            </a:r>
            <a:endParaRPr/>
          </a:p>
          <a:p>
            <a:r>
              <a:t>4 error types</a:t>
            </a:r>
            <a:r>
              <a:rPr lang="en-US"/>
              <a:t> at</a:t>
            </a:r>
            <a:r>
              <a:t> 4% each</a:t>
            </a:r>
            <a:r>
              <a:rPr lang="en-US"/>
              <a:t>: </a:t>
            </a:r>
            <a:r>
              <a:t>16% </a:t>
            </a:r>
            <a:r>
              <a:rPr lang="en-US"/>
              <a:t>erroneous</a:t>
            </a:r>
          </a:p>
          <a:p>
            <a:r>
              <a:rPr lang="en-US"/>
              <a:t>Occlusion: 10x10 region of zeroed pixels</a:t>
            </a:r>
          </a:p>
          <a:p>
            <a:r>
              <a:rPr lang="en-US"/>
              <a:t>OOD: Handwritten numbers from MNIST</a:t>
            </a:r>
          </a:p>
          <a:p>
            <a:r>
              <a:rPr lang="en-US"/>
              <a:t>Random label flipping: labels get flipped with the other classes within Fashion-MNIST</a:t>
            </a:r>
          </a:p>
          <a:p>
            <a:r>
              <a:rPr lang="en-US"/>
              <a:t>Similar class swapping: T-Shirts with Shirts, Coats with Pullovers, Sandals with Sneakers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PCA: 784 </a:t>
            </a:r>
            <a:r>
              <a:rPr lang="en-US"/>
              <a:t>-&gt;</a:t>
            </a:r>
            <a:r>
              <a:t> 50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760720" cy="4937760"/>
          </a:xfrm>
        </p:spPr>
        <p:txBody>
          <a:bodyPr wrap="square"/>
          <a:lstStyle/>
          <a:p>
            <a:r>
              <a:rPr lang="en-US"/>
              <a:t>Curse of dimensionality</a:t>
            </a:r>
          </a:p>
          <a:p>
            <a:r>
              <a:rPr lang="en-US"/>
              <a:t>Performance reasons</a:t>
            </a:r>
            <a:endParaRPr/>
          </a:p>
          <a:p>
            <a:r>
              <a:t>50 dim</a:t>
            </a:r>
            <a:r>
              <a:rPr lang="en-US"/>
              <a:t>ensions are the best compromise at </a:t>
            </a:r>
            <a:r>
              <a:t>82% variance</a:t>
            </a:r>
          </a:p>
          <a:p>
            <a:r>
              <a:t>Diminishing returns</a:t>
            </a:r>
          </a:p>
        </p:txBody>
      </p:sp>
      <p:pic>
        <p:nvPicPr>
          <p:cNvPr id="4" name="Picture 3" descr="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403" y="2783840"/>
            <a:ext cx="6329679" cy="3616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objective for all algorithms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Minimize within-cluster </a:t>
            </a:r>
            <a:r>
              <a:rPr lang="en-US"/>
              <a:t>sum of squared distances (SSE)</a:t>
            </a:r>
            <a:endParaRPr/>
          </a:p>
          <a:p>
            <a:r>
              <a:t>A solution = 20 centroids </a:t>
            </a:r>
            <a:r>
              <a:rPr lang="en-US"/>
              <a:t>within the 50-D space</a:t>
            </a:r>
            <a:endParaRPr/>
          </a:p>
          <a:p>
            <a:r>
              <a:t>PSO</a:t>
            </a:r>
            <a:r>
              <a:rPr lang="en-US"/>
              <a:t>:</a:t>
            </a:r>
            <a:r>
              <a:t> swarm of 50</a:t>
            </a:r>
            <a:r>
              <a:rPr lang="en-150"/>
              <a:t>, </a:t>
            </a:r>
            <a:r>
              <a:rPr lang="en-US"/>
              <a:t>high initial exploration, inertia drops at the end for refinement, particles </a:t>
            </a:r>
            <a:r>
              <a:rPr lang="en-GB"/>
              <a:t>pulled equally to personal and global best</a:t>
            </a:r>
            <a:endParaRPr/>
          </a:p>
          <a:p>
            <a:r>
              <a:t>GA</a:t>
            </a:r>
            <a:r>
              <a:rPr lang="en-US"/>
              <a:t>: </a:t>
            </a:r>
            <a:r>
              <a:t>50 </a:t>
            </a:r>
            <a:r>
              <a:rPr lang="en-US"/>
              <a:t>chromosomes</a:t>
            </a:r>
            <a:r>
              <a:t>, tournament</a:t>
            </a:r>
            <a:r>
              <a:rPr lang="en-US"/>
              <a:t>, </a:t>
            </a:r>
            <a:r>
              <a:t>crossover</a:t>
            </a:r>
            <a:r>
              <a:rPr lang="en-US"/>
              <a:t> per centroid, mutation, elitism</a:t>
            </a:r>
            <a:endParaRPr/>
          </a:p>
          <a:p>
            <a:r>
              <a:t>k-means</a:t>
            </a:r>
            <a:r>
              <a:rPr lang="en-US"/>
              <a:t>:</a:t>
            </a:r>
            <a:r>
              <a:t> </a:t>
            </a:r>
            <a:r>
              <a:rPr lang="en-US"/>
              <a:t>baseline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SSE trend for PSO and GA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760720" cy="4937760"/>
          </a:xfrm>
        </p:spPr>
        <p:txBody>
          <a:bodyPr wrap="square"/>
          <a:lstStyle/>
          <a:p>
            <a:r>
              <a:t>Both drive SSE down</a:t>
            </a:r>
          </a:p>
          <a:p>
            <a:r>
              <a:t>PSO plateaus, then drops </a:t>
            </a:r>
            <a:r>
              <a:rPr lang="en-US"/>
              <a:t>sharply at the end</a:t>
            </a:r>
            <a:endParaRPr/>
          </a:p>
          <a:p>
            <a:r>
              <a:t>GA descends </a:t>
            </a:r>
            <a:r>
              <a:rPr lang="en-US"/>
              <a:t>sharply first, then </a:t>
            </a:r>
            <a:r>
              <a:t>steadily</a:t>
            </a:r>
          </a:p>
          <a:p>
            <a:r>
              <a:t>Both sit above k-means</a:t>
            </a:r>
            <a:r>
              <a:rPr lang="en-US"/>
              <a:t> mean</a:t>
            </a:r>
            <a:r>
              <a:t> SSE</a:t>
            </a:r>
            <a:r>
              <a:rPr lang="en-US"/>
              <a:t> (&lt; 20)</a:t>
            </a:r>
            <a:endParaRPr/>
          </a:p>
        </p:txBody>
      </p:sp>
      <p:pic>
        <p:nvPicPr>
          <p:cNvPr id="4" name="Picture 3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649" y="2715416"/>
            <a:ext cx="6430151" cy="3616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SSE and F1 Divergence</a:t>
            </a:r>
            <a:endParaRPr/>
          </a:p>
        </p:txBody>
      </p:sp>
      <p:pic>
        <p:nvPicPr>
          <p:cNvPr id="4" name="Picture 3" descr="f1_vs_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504" y="1374736"/>
            <a:ext cx="8454179" cy="47554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by Error Type</a:t>
            </a:r>
            <a:endParaRPr/>
          </a:p>
        </p:txBody>
      </p:sp>
      <p:pic>
        <p:nvPicPr>
          <p:cNvPr id="4" name="Picture 3" descr="per_kind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182" y="1435462"/>
            <a:ext cx="8514531" cy="48654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DD8C-F0F9-58A2-F52C-3C4E4268A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20" y="674913"/>
            <a:ext cx="3465458" cy="5100735"/>
          </a:xfrm>
        </p:spPr>
        <p:txBody>
          <a:bodyPr/>
          <a:lstStyle/>
          <a:p>
            <a:r>
              <a:rPr lang="en-US"/>
              <a:t>Performance by Error Type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5EFD9F-2C92-7651-A163-3C0425D1D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278" y="323655"/>
            <a:ext cx="8280919" cy="621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55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PSO </a:t>
            </a:r>
            <a:r>
              <a:rPr lang="en-US"/>
              <a:t>and</a:t>
            </a:r>
            <a:r>
              <a:t> GA </a:t>
            </a:r>
            <a:r>
              <a:rPr lang="en-US"/>
              <a:t>are competitive with</a:t>
            </a:r>
            <a:r>
              <a:t> k-means</a:t>
            </a:r>
            <a:r>
              <a:rPr lang="en-US"/>
              <a:t> but</a:t>
            </a:r>
            <a:r>
              <a:t> neither beats it</a:t>
            </a:r>
          </a:p>
          <a:p>
            <a:r>
              <a:rPr lang="en-US"/>
              <a:t>Overoptimizing SSE can negatively impact detection (F1 score)</a:t>
            </a:r>
            <a:endParaRPr/>
          </a:p>
          <a:p>
            <a:r>
              <a:t>Limitations: </a:t>
            </a:r>
            <a:r>
              <a:rPr lang="en-US"/>
              <a:t>known error size, single small dataset, the algorithms are </a:t>
            </a:r>
            <a:r>
              <a:t>blind to </a:t>
            </a:r>
            <a:r>
              <a:rPr lang="en-US"/>
              <a:t>label</a:t>
            </a:r>
            <a:r>
              <a:t> errors</a:t>
            </a:r>
            <a:endParaRPr lang="en-US"/>
          </a:p>
          <a:p>
            <a:r>
              <a:t>Future: </a:t>
            </a:r>
            <a:r>
              <a:rPr lang="en-US"/>
              <a:t>better feature space than just PCA</a:t>
            </a:r>
            <a:r>
              <a:t> (</a:t>
            </a:r>
            <a:r>
              <a:rPr lang="en-US"/>
              <a:t>hybrid approach with CNNs?)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351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Identifying Erroneous Data in Image Datasets</vt:lpstr>
      <vt:lpstr>Real Image Datasets can be flawed</vt:lpstr>
      <vt:lpstr>Error Detection as a Clustering Problem</vt:lpstr>
      <vt:lpstr>Fashion-MNIST + Injected Errors</vt:lpstr>
      <vt:lpstr>PCA: 784 -&gt; 50 dimensions</vt:lpstr>
      <vt:lpstr>The objective for all algorithms</vt:lpstr>
      <vt:lpstr>SSE trend for PSO and GA</vt:lpstr>
      <vt:lpstr>SSE and F1 Divergence</vt:lpstr>
      <vt:lpstr>Performance by Error Type</vt:lpstr>
      <vt:lpstr>Performance by Error Type</vt:lpstr>
      <vt:lpstr>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Popescu Matei</cp:lastModifiedBy>
  <cp:revision>2</cp:revision>
  <dcterms:created xsi:type="dcterms:W3CDTF">2013-01-27T09:14:16Z</dcterms:created>
  <dcterms:modified xsi:type="dcterms:W3CDTF">2026-06-01T15:48:04Z</dcterms:modified>
  <cp:category/>
</cp:coreProperties>
</file>